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 spc="250">
                <a:solidFill>
                  <a:srgbClr val="06B6D4"/>
                </a:solidFill>
                <a:latin typeface="Calibri"/>
              </a:rPr>
              <a:t>MULTI-AGENT CORPORATE KNOWLEDGE INTELLIGENCE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800" b="1" i="0">
                <a:solidFill>
                  <a:srgbClr val="FFFFFF"/>
                </a:solidFill>
                <a:latin typeface="Calibri"/>
              </a:rPr>
              <a:t>MACKIS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46120"/>
            <a:ext cx="2011680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1F5F9"/>
                </a:solidFill>
                <a:latin typeface="Calibri"/>
              </a:rPr>
              <a:t>Advanced RAG · Dynamic Graph Reasoning · Hybrid Retrieval for Institutional Policy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1F5F9"/>
                </a:solidFill>
                <a:latin typeface="Calibri"/>
              </a:rPr>
              <a:t>Bugrahan Yapılmışev (32147)   ·   Ahmet Çalışkan (31065)   ·   Murat Berke Türkan (30875)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500" b="0" i="0">
                <a:solidFill>
                  <a:srgbClr val="06B6D4"/>
                </a:solidFill>
                <a:latin typeface="Calibri"/>
              </a:rPr>
              <a:t>Supervisor: İnanç Arın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ENS 491-492 Graduation Project  ·  Sabancı University  ·  24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What Is MACKIS?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09B8E"/>
                </a:solidFill>
                <a:latin typeface="Calibri"/>
              </a:rPr>
              <a:t>An intelligent RAG chatbot for Sabancı University policy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Answers natural-language questions in Turkish and English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Retrieves from official regulations, procedures, forms, announcements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Grounds every answer in cited, authoritative source documents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Runs as a fully containerized, production-ready web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Visual: User → Chat UI → Backend → Knowledge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1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Why institutional policy lookup is slow and error-prone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PROBLEM · THE INFORMATION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Finding Policy Info Is Slow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~2,000 raw documents scattered across dozens of portals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No centralized search or version-controlled repository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One question often spans multiple, conflicting documents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Manual lookup takes 5–15 minutes per query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PROBLEM · EXISTING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Why Keyword &amp; General AI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Keyword search misses semantic intent and Turkish morphology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Cannot distinguish “may apply” from “may NOT apply”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General AI assistants hallucinate institution-specific facts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No verifiable citations — users cannot validate answers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Nine objectives covering the full system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OBJECTIVES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Corpus, Retrieval, KG,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1">
                <a:solidFill>
                  <a:srgbClr val="1E40AF"/>
                </a:solidFill>
                <a:latin typeface="Calibri"/>
              </a:rPr>
              <a:t>Obj 1 — Corpus: </a:t>
            </a:r>
            <a:r>
              <a:rPr sz="2000">
                <a:solidFill>
                  <a:srgbClr val="334155"/>
                </a:solidFill>
                <a:latin typeface="Calibri"/>
              </a:rPr>
              <a:t>~18,000 enriched chunks in ChromaDB + BM25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1">
                <a:solidFill>
                  <a:srgbClr val="1E40AF"/>
                </a:solidFill>
                <a:latin typeface="Calibri"/>
              </a:rPr>
              <a:t>Obj 2 — Retrieval: </a:t>
            </a:r>
            <a:r>
              <a:rPr sz="2000">
                <a:solidFill>
                  <a:srgbClr val="334155"/>
                </a:solidFill>
                <a:latin typeface="Calibri"/>
              </a:rPr>
              <a:t>hybrid pipeline, Hit@10 ≥ 0.85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Obj 3 — Knowledge Graph: 3,427 topics, 39,877 triples · JSON + NumPy store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1">
                <a:solidFill>
                  <a:srgbClr val="1E40AF"/>
                </a:solidFill>
                <a:latin typeface="Calibri"/>
              </a:rPr>
              <a:t>Obj 4 — Query Intelligence: </a:t>
            </a:r>
            <a:r>
              <a:rPr sz="2000">
                <a:solidFill>
                  <a:srgbClr val="334155"/>
                </a:solidFill>
                <a:latin typeface="Calibri"/>
              </a:rPr>
              <a:t>negation, follow-up, HyDE, multi-query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OBJECTIVES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Quality, UI, Deploy,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Obj 5 — Reranking: </a:t>
            </a:r>
            <a:r>
              <a:rPr sz="1900">
                <a:solidFill>
                  <a:srgbClr val="334155"/>
                </a:solidFill>
                <a:latin typeface="Calibri"/>
              </a:rPr>
              <a:t>composite evaluation score ≥ 0.70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Obj 6 — Frontend: </a:t>
            </a:r>
            <a:r>
              <a:rPr sz="1900">
                <a:solidFill>
                  <a:srgbClr val="334155"/>
                </a:solidFill>
                <a:latin typeface="Calibri"/>
              </a:rPr>
              <a:t>React/TypeScript UI with citations + JWT auth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Obj 7 — Deployment: </a:t>
            </a:r>
            <a:r>
              <a:rPr sz="1900">
                <a:solidFill>
                  <a:srgbClr val="334155"/>
                </a:solidFill>
                <a:latin typeface="Calibri"/>
              </a:rPr>
              <a:t>single-command Docker Compose stack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Obj 8 — Evaluation: </a:t>
            </a:r>
            <a:r>
              <a:rPr sz="1900">
                <a:solidFill>
                  <a:srgbClr val="334155"/>
                </a:solidFill>
                <a:latin typeface="Calibri"/>
              </a:rPr>
              <a:t>≥ 75% pass rate on 95-question dataset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Obj 9 — Testing: </a:t>
            </a:r>
            <a:r>
              <a:rPr sz="1900">
                <a:solidFill>
                  <a:srgbClr val="334155"/>
                </a:solidFill>
                <a:latin typeface="Calibri"/>
              </a:rPr>
              <a:t>pytest + Vitest + Playwright suite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3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Four-stage pipeline on a cloud-native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ARCHITECTURE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Four-Stage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Query In → Query Intelligence → Hybrid Recall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→ Cross-Encoder Reranking → Grounded Generation → Answer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Backend: FastAPI (Python 3.10), async endpoints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Storage: PostgreSQL (Supabase) + pgvector + ChromaDB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60520"/>
            <a:ext cx="2468880" cy="10972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Query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2" y="470915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4160520"/>
            <a:ext cx="2468880" cy="1097280"/>
          </a:xfrm>
          <a:prstGeom prst="rect">
            <a:avLst/>
          </a:prstGeom>
          <a:solidFill>
            <a:srgbClr val="1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Hybrid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2" y="470915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160520"/>
            <a:ext cx="2468880" cy="10972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Cross-Encoder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2" y="470915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4160520"/>
            <a:ext cx="2468880" cy="1097280"/>
          </a:xfrm>
          <a:prstGeom prst="rect">
            <a:avLst/>
          </a:prstGeom>
          <a:solidFill>
            <a:srgbClr val="1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Grounded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ARCHITECTURE ·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4519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Generation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Qwen3-80B-MoE (OpenRouter)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Qwen3-Embedding-8B · 1,024-dim Matryoshka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Reranking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BAAI/bge-reranker-v2-m3 (local CPU)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Vector store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ChromaDB (17,788 chunks) · pgvector (sessions/metadata)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BM25 index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rank_bm25 / BM25Okapi (pickle)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React 18 + TypeScript + Tailwind (Vite)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Docker Compose — 3 services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4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Data &amp; Knowledge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From raw web documents to a validated knowledge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DATA ·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Ingestion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1923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Systematic crawl of official portals: HTML, PDF, DOC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BeautifulSoup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(HTML),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pypdf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(PDF), LibreOffice headless (DOC→PDF)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SHA1 deduplication at document and chunk level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Result: 17,788 clean chunks, ~</a:t>
            </a:r>
            <a:r>
              <a:rPr lang="tr-TR" sz="2000" b="0" dirty="0">
                <a:solidFill>
                  <a:srgbClr val="334155"/>
                </a:solidFill>
                <a:latin typeface="Calibri"/>
              </a:rPr>
              <a:t>500-700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chars each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DATA · 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Corpus Enrichment &amp; Tagging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Procedure codes extracted (IIPAR-C710-02, PGS-S1010-0102)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Effective date, revision date, unit, document type stored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Contextual format: [Title] [Section] Content… before embedding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LLM tagging adds semantic tags (erasmus_study, scholarship_criteria)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KNOWLEDGE GRAPH ·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Two Complementary Structures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257800" cy="356616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E40AF"/>
                </a:solidFill>
                <a:latin typeface="Calibri"/>
              </a:rPr>
              <a:t>Entity-Relation Triples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Structural knowledge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334155"/>
                </a:solidFill>
                <a:latin typeface="Calibri"/>
              </a:rPr>
              <a:t>(Erasmus_Internship)</a:t>
            </a:r>
            <a:br/>
            <a:r>
              <a:t>   → [requires] →</a:t>
            </a:r>
            <a:br/>
            <a:r>
              <a:t>(Insurance_Document)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Extracted via LLM with JSON schema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Confidence-scored per triple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011680"/>
            <a:ext cx="5257800" cy="35661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9B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09B8E"/>
                </a:solidFill>
                <a:latin typeface="Calibri"/>
              </a:rPr>
              <a:t>Topic-Fact Records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Parametric knowledge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334155"/>
                </a:solidFill>
                <a:latin typeface="Calibri"/>
              </a:rPr>
              <a:t>Erasmus_Internship:</a:t>
            </a:r>
            <a:br/>
            <a:r>
              <a:t>  {min_gpa_undergrad: 2.20,</a:t>
            </a:r>
            <a:br/>
            <a:r>
              <a:t>   min_gpa_grad: 2.50}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Answers quantitative queries directly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No free-text extraction risk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KNOWLEDGE GRAPH ·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Validation &amp; Local JSON/NumPy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Stage 1 — LLM critic: </a:t>
            </a:r>
            <a:r>
              <a:rPr sz="1800">
                <a:solidFill>
                  <a:srgbClr val="334155"/>
                </a:solidFill>
                <a:latin typeface="Calibri"/>
              </a:rPr>
              <a:t>flags hallucination, misclassification, placeholders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Stage 2 — Regex validator: </a:t>
            </a:r>
            <a:r>
              <a:rPr sz="1800">
                <a:solidFill>
                  <a:srgbClr val="334155"/>
                </a:solidFill>
                <a:latin typeface="Calibri"/>
              </a:rPr>
              <a:t>GPA ∈ [0.0, 4.0]; durations need numeric unit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Storage: JSON files (kg_facts.json · kg_triples.json) + NumPy pickle index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Embeddings: topic nodes as NumPy float32 vectors; cosine via np.dot (local CPU)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Index: 3,427 topics · 39,877 triples · LLM-validated quality filter applied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5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RAG Pipeline (4 Stages)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Query intelligence → recall → rerank →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PIPELINE · 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Query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Intent detection: </a:t>
            </a:r>
            <a:r>
              <a:rPr sz="1900">
                <a:solidFill>
                  <a:srgbClr val="334155"/>
                </a:solidFill>
                <a:latin typeface="Calibri"/>
              </a:rPr>
              <a:t>list_names / count_items / describe / general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Negation extraction: </a:t>
            </a:r>
            <a:r>
              <a:rPr sz="1900">
                <a:solidFill>
                  <a:srgbClr val="334155"/>
                </a:solidFill>
                <a:latin typeface="Calibri"/>
              </a:rPr>
              <a:t>LLM + heuristic markers (değil, hariç, except)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Multi-query expansion: </a:t>
            </a:r>
            <a:r>
              <a:rPr sz="1900">
                <a:solidFill>
                  <a:srgbClr val="334155"/>
                </a:solidFill>
                <a:latin typeface="Calibri"/>
              </a:rPr>
              <a:t>rewrite into 3 diverse paraphrases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HyDE: </a:t>
            </a:r>
            <a:r>
              <a:rPr sz="1900">
                <a:solidFill>
                  <a:srgbClr val="334155"/>
                </a:solidFill>
                <a:latin typeface="Calibri"/>
              </a:rPr>
              <a:t>synthetic ideal-answer passage as extra retrieval query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PIPELINE · 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Hybrid Recall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Dense vector: </a:t>
            </a:r>
            <a:r>
              <a:rPr sz="1900">
                <a:solidFill>
                  <a:srgbClr val="334155"/>
                </a:solidFill>
                <a:latin typeface="Calibri"/>
              </a:rPr>
              <a:t>Qwen3-Embedding-8B → up to 80 candidates/query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BM25 lexical: </a:t>
            </a:r>
            <a:r>
              <a:rPr sz="1900">
                <a:solidFill>
                  <a:srgbClr val="334155"/>
                </a:solidFill>
                <a:latin typeface="Calibri"/>
              </a:rPr>
              <a:t>procedure codes, exact terms → up to 48/query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KG lookup: NumPy cosine sim on JSON-backed topic embeddings; keyword scoring on triples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RRF fusion: </a:t>
            </a:r>
            <a:r>
              <a:rPr sz="1900">
                <a:solidFill>
                  <a:srgbClr val="334155"/>
                </a:solidFill>
                <a:latin typeface="Calibri"/>
              </a:rPr>
              <a:t>Σ 1/(60 + rank(d)) → ~100 unique candidates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PIPELINE · 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Cross-Encoder Reranking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Scoring: </a:t>
            </a:r>
            <a:r>
              <a:rPr sz="1800">
                <a:solidFill>
                  <a:srgbClr val="334155"/>
                </a:solidFill>
                <a:latin typeface="Calibri"/>
              </a:rPr>
              <a:t>bge-reranker-v2-m3 scores (query, chunk) at token level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Hybrid score: </a:t>
            </a:r>
            <a:r>
              <a:rPr sz="1800">
                <a:solidFill>
                  <a:srgbClr val="334155"/>
                </a:solidFill>
                <a:latin typeface="Calibri"/>
              </a:rPr>
              <a:t>0.7 × cross-encoder + 0.3 × RRF retrieval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Tag boost: </a:t>
            </a:r>
            <a:r>
              <a:rPr sz="1800">
                <a:solidFill>
                  <a:srgbClr val="334155"/>
                </a:solidFill>
                <a:latin typeface="Calibri"/>
              </a:rPr>
              <a:t>+0.20 domain match / −0.10 mismatch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Negation penalty: </a:t>
            </a:r>
            <a:r>
              <a:rPr sz="1800">
                <a:solidFill>
                  <a:srgbClr val="334155"/>
                </a:solidFill>
                <a:latin typeface="Calibri"/>
              </a:rPr>
              <a:t>×0.3 on negated-term titles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MMR (λ=0.7): </a:t>
            </a:r>
            <a:r>
              <a:rPr sz="1800">
                <a:solidFill>
                  <a:srgbClr val="334155"/>
                </a:solidFill>
                <a:latin typeface="Calibri"/>
              </a:rPr>
              <a:t>final 8–15 chunks from 3–5 documents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PIPELINE · 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Grounded Answer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Context: </a:t>
            </a:r>
            <a:r>
              <a:rPr sz="1800">
                <a:solidFill>
                  <a:srgbClr val="334155"/>
                </a:solidFill>
                <a:latin typeface="Calibri"/>
              </a:rPr>
              <a:t>ranked chunks + KG “Verified Facts” block + triples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Prompt enforces: </a:t>
            </a:r>
            <a:r>
              <a:rPr sz="1800">
                <a:solidFill>
                  <a:srgbClr val="334155"/>
                </a:solidFill>
                <a:latin typeface="Calibri"/>
              </a:rPr>
              <a:t>answer only from context, cite source + section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Abstains: </a:t>
            </a:r>
            <a:r>
              <a:rPr sz="1800">
                <a:solidFill>
                  <a:srgbClr val="334155"/>
                </a:solidFill>
                <a:latin typeface="Calibri"/>
              </a:rPr>
              <a:t>explicit “I cannot answer” when context insufficient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Numerical verify: </a:t>
            </a:r>
            <a:r>
              <a:rPr sz="1800">
                <a:solidFill>
                  <a:srgbClr val="334155"/>
                </a:solidFill>
                <a:latin typeface="Calibri"/>
              </a:rPr>
              <a:t>regex checks every number/date/% vs. context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Guard: </a:t>
            </a:r>
            <a:r>
              <a:rPr sz="1800">
                <a:solidFill>
                  <a:srgbClr val="334155"/>
                </a:solidFill>
                <a:latin typeface="Calibri"/>
              </a:rPr>
              <a:t>unverified values flagged → truncate or regenerate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6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Frontend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Citation-transparent UI and one-command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React UI &amp; 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React 18 + TypeScript, Vite build, Tailwind CSS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ChatMessage: React Markdown + GitHub Flavored Markdown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SourceCard: file, section, relevance score, collapsible preview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JWT via Axios interceptors; auto-headers, redirect on 401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Roles: undergrad / grad / alumni / staff / admin / guest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Docker Compose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3 services: ollama · backend (FastAPI) · frontend (nginx)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ChromaDB + BM25 checkpoints bind-mounted for persistence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HuggingFace model cache in named volume across restarts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Health checks + explicit dependency ordering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6858000" cy="731520"/>
          </a:xfrm>
          <a:prstGeom prst="rect">
            <a:avLst/>
          </a:prstGeom>
          <a:solidFill>
            <a:srgbClr val="0F1B3D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203200" bIns="152400" rtlCol="0" anchor="ctr"/>
          <a:lstStyle/>
          <a:p>
            <a:pPr algn="ctr">
              <a:spcAft>
                <a:spcPts val="300"/>
              </a:spcAft>
            </a:pPr>
            <a:r>
              <a:rPr sz="1700">
                <a:solidFill>
                  <a:srgbClr val="F1F5F9"/>
                </a:solidFill>
                <a:latin typeface="Consolas"/>
              </a:rPr>
              <a:t>$ docker compose up --build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7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Composite LLM-as-judge framework and final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EVALUATION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Composite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881360" cy="1783080"/>
          </a:xfrm>
          <a:prstGeom prst="rect">
            <a:avLst/>
          </a:prstGeom>
          <a:solidFill>
            <a:srgbClr val="0F1B3D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203200" bIns="152400" rtlCol="0" anchor="ctr"/>
          <a:lstStyle/>
          <a:p>
            <a:pPr algn="ctr">
              <a:spcAft>
                <a:spcPts val="300"/>
              </a:spcAft>
            </a:pPr>
            <a:r>
              <a:rPr sz="1600">
                <a:solidFill>
                  <a:srgbClr val="06B6D4"/>
                </a:solidFill>
                <a:latin typeface="Consolas"/>
              </a:rPr>
              <a:t>Composite = 0.30·Faithfulness + 0.30·AnswerCorrectness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+ 0.25·ContextRecall + 0.15·AnswerRelevancy</a:t>
            </a:r>
          </a:p>
          <a:p>
            <a:pPr>
              <a:spcAft>
                <a:spcPts val="300"/>
              </a:spcAft>
            </a:pPr>
            <a:endParaRPr sz="1600">
              <a:solidFill>
                <a:srgbClr val="F1F5F9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Pass: Composite ≥ 0.70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4 RAGAS metrics: Faithfulness · AnswerCorrectness · ContextRecall · AnswerRelevancy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LLM judge: GPT-4o-mini via OpenRouter (claim-level decomposition)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Dataset: 95 curated Q&amp;A pairs across 20 domain categories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EVALUATION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 dirty="0">
                <a:solidFill>
                  <a:srgbClr val="0F1B3D"/>
                </a:solidFill>
                <a:latin typeface="Calibri"/>
              </a:rPr>
              <a:t>Overall Metrics — Run </a:t>
            </a:r>
            <a:r>
              <a:rPr lang="tr-TR" sz="3200" b="1" dirty="0">
                <a:solidFill>
                  <a:srgbClr val="0F1B3D"/>
                </a:solidFill>
                <a:latin typeface="Calibri"/>
              </a:rPr>
              <a:t>35</a:t>
            </a:r>
            <a:endParaRPr sz="3200" b="1" i="0" dirty="0">
              <a:solidFill>
                <a:srgbClr val="0F1B3D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 dirty="0">
                <a:solidFill>
                  <a:srgbClr val="64748B"/>
                </a:solidFill>
                <a:latin typeface="Calibri"/>
              </a:rPr>
              <a:t>Final evaluation · </a:t>
            </a:r>
            <a:r>
              <a:rPr lang="tr-TR" sz="1500" i="1" dirty="0">
                <a:solidFill>
                  <a:srgbClr val="64748B"/>
                </a:solidFill>
                <a:latin typeface="Calibri"/>
              </a:rPr>
              <a:t>06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lang="tr-TR" sz="1500" b="0" i="1" dirty="0" err="1">
                <a:solidFill>
                  <a:srgbClr val="64748B"/>
                </a:solidFill>
                <a:latin typeface="Calibri"/>
              </a:rPr>
              <a:t>June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2026 · </a:t>
            </a:r>
            <a:r>
              <a:rPr lang="tr-TR" sz="1500" i="1" dirty="0">
                <a:solidFill>
                  <a:srgbClr val="64748B"/>
                </a:solidFill>
                <a:latin typeface="Calibri"/>
              </a:rPr>
              <a:t>9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5-question golden dataset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642871"/>
              </p:ext>
            </p:extLst>
          </p:nvPr>
        </p:nvGraphicFramePr>
        <p:xfrm>
          <a:off x="640080" y="2148840"/>
          <a:ext cx="749807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8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Composite Pass Rate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94.7</a:t>
                      </a:r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%  (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90</a:t>
                      </a:r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/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95</a:t>
                      </a:r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Average Composite Score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0.758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Retrieval Hit@10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0.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905</a:t>
                      </a:r>
                      <a:endParaRPr sz="15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MRR@10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0.7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49</a:t>
                      </a:r>
                      <a:endParaRPr sz="15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MAP@10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0.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696</a:t>
                      </a:r>
                      <a:endParaRPr sz="15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0.7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80</a:t>
                      </a:r>
                      <a:endParaRPr sz="15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Context Recall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0.792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Avg. Time / Question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~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4</a:t>
                      </a:r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3 s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EVALUATION ·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Performance Across Iterations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101611"/>
              </p:ext>
            </p:extLst>
          </p:nvPr>
        </p:nvGraphicFramePr>
        <p:xfrm>
          <a:off x="640080" y="1699383"/>
          <a:ext cx="10881356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1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9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334155"/>
                          </a:solidFill>
                          <a:latin typeface="Calibri"/>
                        </a:rPr>
                        <a:t>Run 19 (Nov 25)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Llama 3.1-8B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BGE-M3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64.4%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0.640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Run 24 (Feb 26)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Qwen3-32B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Qwen3-Emb-8B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71.1%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0.716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0.754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334155"/>
                          </a:solidFill>
                          <a:latin typeface="Calibri"/>
                        </a:rPr>
                        <a:t>Run 27 (Apr 26)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Qwen3-32B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Qwen3-Emb-8B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0.791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tr-TR" sz="1400" b="1" dirty="0">
                          <a:solidFill>
                            <a:srgbClr val="334155"/>
                          </a:solidFill>
                          <a:latin typeface="Calibri"/>
                        </a:rPr>
                        <a:t>Run 35 (</a:t>
                      </a:r>
                      <a:r>
                        <a:rPr lang="tr-TR" sz="1400" b="1" dirty="0" err="1">
                          <a:solidFill>
                            <a:srgbClr val="334155"/>
                          </a:solidFill>
                          <a:latin typeface="Calibri"/>
                        </a:rPr>
                        <a:t>Jun</a:t>
                      </a:r>
                      <a:r>
                        <a:rPr lang="tr-TR" sz="1400" b="1" dirty="0">
                          <a:solidFill>
                            <a:srgbClr val="334155"/>
                          </a:solidFill>
                          <a:latin typeface="Calibri"/>
                        </a:rPr>
                        <a:t> 6)</a:t>
                      </a:r>
                      <a:endParaRPr sz="1400" b="1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Qwen3-80b-Moe</a:t>
                      </a:r>
                      <a:endParaRPr sz="14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334155"/>
                          </a:solidFill>
                          <a:latin typeface="+mn-lt"/>
                        </a:rPr>
                        <a:t>Qwen3-Emb-8B</a:t>
                      </a:r>
                      <a:endParaRPr sz="14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94.7%</a:t>
                      </a:r>
                      <a:endParaRPr sz="14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0.758</a:t>
                      </a:r>
                      <a:endParaRPr sz="14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0.780</a:t>
                      </a:r>
                      <a:endParaRPr sz="14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23974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114800"/>
            <a:ext cx="10881360" cy="10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Run 19→24: model upgrade (Llama→Qwen3) drove +7.1 pp pass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 dirty="0">
                <a:solidFill>
                  <a:srgbClr val="06B6D4"/>
                </a:solidFill>
                <a:latin typeface="Calibri"/>
              </a:rPr>
              <a:t>▸  Run 24→27: Hybrid KG + anti-hallucination prompting drove +8.9 pp pass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 dirty="0">
                <a:solidFill>
                  <a:srgbClr val="06B6D4"/>
                </a:solidFill>
                <a:latin typeface="Calibri"/>
              </a:rPr>
              <a:t>▸  Run 27→35: upgraded to Qwen3-80B-MoE + RAGAS eval; real pass 94.7%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EVALUATION ·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Category-Level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060420"/>
              </p:ext>
            </p:extLst>
          </p:nvPr>
        </p:nvGraphicFramePr>
        <p:xfrm>
          <a:off x="640080" y="1783080"/>
          <a:ext cx="859535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3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5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6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5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Erasmus &amp; Exchange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350" b="0" dirty="0">
                          <a:solidFill>
                            <a:srgbClr val="334155"/>
                          </a:solidFill>
                          <a:latin typeface="Calibri"/>
                        </a:rPr>
                        <a:t>8/9</a:t>
                      </a:r>
                      <a:endParaRPr sz="135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0.756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Discipline &amp; Conduct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350" b="0" dirty="0">
                          <a:solidFill>
                            <a:srgbClr val="334155"/>
                          </a:solidFill>
                          <a:latin typeface="Calibri"/>
                        </a:rPr>
                        <a:t>6/6</a:t>
                      </a:r>
                      <a:endParaRPr sz="135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0.828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Graduate Programs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6/6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0.806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Academic Procedures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14/15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0.751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Library Services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5/6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0.695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334155"/>
                          </a:solidFill>
                          <a:latin typeface="Calibri"/>
                        </a:rPr>
                        <a:t>Student Life &amp; Housing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11/11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0.774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Research &amp; Grants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0.641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Campus Services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9/10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0.728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Health &amp; Safety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0.781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Scholarship &amp; Financial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0.815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Multi-Hop / Edge Cases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9/10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0.864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6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334155"/>
                          </a:solidFill>
                          <a:latin typeface="Calibri"/>
                        </a:rPr>
                        <a:t>90/95 (94.7%)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334155"/>
                          </a:solidFill>
                          <a:latin typeface="Calibri"/>
                        </a:rPr>
                        <a:t>0.758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EVALUATION ·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Retrieval Component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BM25 wins exact terms: </a:t>
            </a:r>
            <a:r>
              <a:rPr sz="1900">
                <a:solidFill>
                  <a:srgbClr val="334155"/>
                </a:solidFill>
                <a:latin typeface="Calibri"/>
              </a:rPr>
              <a:t>“IIPAR-C710-02…” → rank 1 vs. vector rank 6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Vector wins paraphrases: </a:t>
            </a:r>
            <a:r>
              <a:rPr sz="1900">
                <a:solidFill>
                  <a:srgbClr val="334155"/>
                </a:solidFill>
                <a:latin typeface="Calibri"/>
              </a:rPr>
              <a:t>“exchange eligibility threshold” query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KG lifts numeric accuracy: </a:t>
            </a:r>
            <a:r>
              <a:rPr sz="1900">
                <a:solidFill>
                  <a:srgbClr val="334155"/>
                </a:solidFill>
                <a:latin typeface="Calibri"/>
              </a:rPr>
              <a:t>0.928 with facts vs. 0.771 without (Δ +0.157)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RRF fusion: </a:t>
            </a:r>
            <a:r>
              <a:rPr sz="1900">
                <a:solidFill>
                  <a:srgbClr val="334155"/>
                </a:solidFill>
                <a:latin typeface="Calibri"/>
              </a:rPr>
              <a:t>ensures both signals reach the final ranking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EVALUATION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All 9 Objectives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130449"/>
              </p:ext>
            </p:extLst>
          </p:nvPr>
        </p:nvGraphicFramePr>
        <p:xfrm>
          <a:off x="640080" y="1828800"/>
          <a:ext cx="1088135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1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7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Achieved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1 — Corpus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~18,000 chunks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17,788 ✓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2 — Hit@10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≥ 0.85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0.905 ✓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3 — KG (JSON+NumPy)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3,427 topics / 39,877 triples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Full ✓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4 — Query Intelligence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negation + follow-up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Validated ✓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5 — Composite Score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≥ 0.70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0.758 ✓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6 — React Frontend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citations + JWT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Functional ✓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7 — Docker Compose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1-command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Delivered ✓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8 — Pass Rate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≥ 75%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94.7% ✓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9 — Test Suite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pytest+Vitest+Playwright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Passing ✓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Impact, Limits &amp; Future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Cost, limitations, and the road to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IMPACT ·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Cost &amp; Environmental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2495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Typical query: ~15K context + ~400 output tokens ≈ $0.015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500 daily queries ≈ $7.50/day (~$225/month)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Beats 5–15 min manual staff lookup per query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Cloud multi-tenant GPU: higher utilization, lower idle waste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Future: 4-bit Qwen3-8B on-premise, zero API cost</a:t>
            </a:r>
            <a:endParaRPr lang="tr-TR" sz="1800" b="0" dirty="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lang="tr-TR" dirty="0" err="1">
                <a:solidFill>
                  <a:srgbClr val="334155"/>
                </a:solidFill>
                <a:latin typeface="Calibri"/>
              </a:rPr>
              <a:t>The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cost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can be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decreased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to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0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if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models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will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be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deployed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in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academic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hardware</a:t>
            </a:r>
            <a:endParaRPr sz="1800" b="0" dirty="0">
              <a:solidFill>
                <a:srgbClr val="3341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Current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1608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Response latency </a:t>
            </a:r>
            <a:r>
              <a:rPr lang="tr-TR" sz="1800" b="0" dirty="0">
                <a:solidFill>
                  <a:srgbClr val="334155"/>
                </a:solidFill>
                <a:latin typeface="Calibri"/>
              </a:rPr>
              <a:t>47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s/query — too slow for real-time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5.3% true failure rate: 3 retrieval gaps, 1 synonym gap, 1 incomplete generation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Library/Transport: alumni borrowing table + EV charging info not retrieved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No automated corpus refresh; occasional TR/EN code-switching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Roadmap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Streaming: </a:t>
            </a:r>
            <a:r>
              <a:rPr sz="1800">
                <a:solidFill>
                  <a:srgbClr val="334155"/>
                </a:solidFill>
                <a:latin typeface="Calibri"/>
              </a:rPr>
              <a:t>first-token delivery within 2–3 seconds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Auto corpus refresh: </a:t>
            </a:r>
            <a:r>
              <a:rPr sz="1800">
                <a:solidFill>
                  <a:srgbClr val="334155"/>
                </a:solidFill>
                <a:latin typeface="Calibri"/>
              </a:rPr>
              <a:t>SHA1-diff crawler, incremental re-embedding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Feedback loop: </a:t>
            </a:r>
            <a:r>
              <a:rPr sz="1800">
                <a:solidFill>
                  <a:srgbClr val="334155"/>
                </a:solidFill>
                <a:latin typeface="Calibri"/>
              </a:rPr>
              <a:t>thumbs up/down → expand golden dataset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Multi-agent: </a:t>
            </a:r>
            <a:r>
              <a:rPr sz="1800">
                <a:solidFill>
                  <a:srgbClr val="334155"/>
                </a:solidFill>
                <a:latin typeface="Calibri"/>
              </a:rPr>
              <a:t>domain agents (Erasmus, Library) + routing agent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Pilot + quantization: </a:t>
            </a:r>
            <a:r>
              <a:rPr sz="1800">
                <a:solidFill>
                  <a:srgbClr val="334155"/>
                </a:solidFill>
                <a:latin typeface="Calibri"/>
              </a:rPr>
              <a:t>SU International Office; 4-bit Qwen3-8B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9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What MACKIS proves and its key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Domain-Specific RAG Is Feasible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76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dirty="0">
                <a:solidFill>
                  <a:srgbClr val="06B6D4"/>
                </a:solidFill>
                <a:latin typeface="Calibri"/>
              </a:rPr>
              <a:t>▸  94.7% real pass rate (90/95) · 74.7% RAGAS automated · 95-question golden dataset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dirty="0">
                <a:solidFill>
                  <a:srgbClr val="06B6D4"/>
                </a:solidFill>
                <a:latin typeface="Calibri"/>
              </a:rPr>
              <a:t>▸  Hit@10 0.905 · nDCG@10 0.780 · avg composite 0.758 over 17,788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09B8E"/>
                </a:solidFill>
                <a:latin typeface="Calibri"/>
              </a:rPr>
              <a:t>Five key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Hybrid retrieval: dense + BM25 + KG with cross-encoder reranking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Two-tier KG: LLM + pattern-validated facts in JSON + NumPy vector store (3,427 topics)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RAGAS composite evaluation: Faithfulness · AnswerCorrectness · ContextRecall · AnswerRelevancy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Fully containerized Docker Compose deployment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Evidence-based 35-run iterative development methodology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400" b="0" i="0">
                <a:solidFill>
                  <a:srgbClr val="06B6D4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1F5F9"/>
                </a:solidFill>
                <a:latin typeface="Calibri"/>
              </a:rPr>
              <a:t>github.com/bugrahanyapilmisev/ENS491-MACKIS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Bugrahan Yapılmışev (32147)  ·  Ahmet Çalışkan (31065)  ·  Murat Berke Türkan (30875)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Supervisor: İnanç Arın  ·  Sabancı University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A /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Reference tables and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APPENDIX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Composite Score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2834640"/>
          </a:xfrm>
          <a:prstGeom prst="rect">
            <a:avLst/>
          </a:prstGeom>
          <a:solidFill>
            <a:srgbClr val="0F1B3D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203200" bIns="152400" rtlCol="0" anchor="ctr"/>
          <a:lstStyle/>
          <a:p>
            <a:pPr algn="ctr">
              <a:spcAft>
                <a:spcPts val="300"/>
              </a:spcAft>
            </a:pPr>
            <a:r>
              <a:rPr sz="1600">
                <a:solidFill>
                  <a:srgbClr val="06B6D4"/>
                </a:solidFill>
                <a:latin typeface="Consolas"/>
              </a:rPr>
              <a:t>Composite = 0.30 × Faithfulness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+ 0.30 × Answer Correctness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+ 0.25 × Context Recall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+ 0.15 × Answer Relevancy</a:t>
            </a:r>
          </a:p>
          <a:p>
            <a:pPr>
              <a:spcAft>
                <a:spcPts val="300"/>
              </a:spcAft>
            </a:pPr>
            <a:endParaRPr sz="1600">
              <a:solidFill>
                <a:srgbClr val="F1F5F9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06B6D4"/>
                </a:solidFill>
                <a:latin typeface="Consolas"/>
              </a:rPr>
              <a:t>Evaluation via RAGAS library (4 automated metrics)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Pass threshold: Composite ≥ 0.70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RAGAS: claim-level Faithfulness + semantic Answer Correctness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LLM judge: GPT-4o-mini via OpenRouter (0–1 per metric)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APPENDIX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Full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28800"/>
          <a:ext cx="1088135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6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6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FastAPI (Python 3.10)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Async, Uvicorn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React 18 + TypeScript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Vite, Tailwind CSS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Relational DB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PostgreSQL (Supabase)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pgvector, 15 ORM models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Vector Store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ChromaDB + pgvector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Chunks: ChromaDB · Sessions: pgvector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Qwen3-Embedding-8B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1,024-dim Matryoshka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Generation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Qwen3-80B-MoE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OpenRouter API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Reranking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bge-reranker-v2-m3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Local CPU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BM25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rank_bm25 (BM25Okapi)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Pickle-serialized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JWT (RFC 7519)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6 roles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LLM Judge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GPT-4o-mini (RAGAS)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4 RAGAS metrics via OpenRouter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Docker Compose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3 services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APPENDIX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Selected Key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Lewis et al. (2020) — RAG for Knowledge-Intensive NLP. NeurIPS 33.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Gao et al. (2023) — HyDE: precise zero-shot dense retrieval. ACL.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Cormack et al. (2009) — Reciprocal Rank Fusion. SIGIR.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Chen et al. (2024) — BGE M3-Embedding. arXiv 2402.03216.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Qwen Team (2025) — Qwen3 Technical Report. Alibaba Cloud.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Es et al. (2024) — RAGAS: Automated RAG evaluation. EACL.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2646</Words>
  <Application>Microsoft Office PowerPoint</Application>
  <PresentationFormat>Widescreen</PresentationFormat>
  <Paragraphs>492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Buğrahan Yapılmışev (Student)</cp:lastModifiedBy>
  <cp:revision>3</cp:revision>
  <dcterms:created xsi:type="dcterms:W3CDTF">2013-01-27T09:14:16Z</dcterms:created>
  <dcterms:modified xsi:type="dcterms:W3CDTF">2026-06-11T19:29:38Z</dcterms:modified>
  <cp:category/>
</cp:coreProperties>
</file>